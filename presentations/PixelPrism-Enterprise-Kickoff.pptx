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77574A-C92A-4D6F-A31C-A5937D2D1F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CA3498-E375-4590-8FDB-80A77DA3C7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A51FDF4-481B-4B30-9CFD-E313685200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E11230-CCD9-4908-A24A-4779A0E873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7B4439D-50AF-40E2-B8C7-B364BF1E31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6F7018C-D8F7-41E1-B6ED-81406BFC43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DC87881-F315-42DE-95A2-67F9691367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A074757-2025-41FF-ADE6-7690E0E5F9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A244166-8E96-4B61-953E-E8E08DFCBC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47CE658-94F0-45F3-AE83-78163EF947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EB835A5-DE66-4FE2-9CDA-CB334F4C80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781E2C-68B4-43C0-9202-FA1F1B0927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FAD99A-47C8-40F8-BB3D-B853DE4E94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3D5866-35C7-4362-9D5F-73BA7ED5B8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DB3ACE-BFF6-4256-A5E2-7E1215249A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546AD3-C5AE-42BD-AB79-795296B1BD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3D7C6D-0F75-44F4-8DC1-6C837AC5BA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6192C6-71FF-453F-88FF-952724DE81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008FEA-C147-4678-9021-1E74C5CA10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33494B-7612-47E9-BD9E-40A8D3ADB6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82EDD2-514A-497F-B4CE-2199CD3870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3BB019-05F8-40B1-8D5A-7A3C3A16FE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01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48640" y="502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KICKOFF / ENTERPRISE INTRODUCTION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548640" y="1828800"/>
            <a:ext cx="10972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200" spc="-185" strike="noStrike">
                <a:solidFill>
                  <a:srgbClr val="eaeef1"/>
                </a:solidFill>
                <a:latin typeface="Neue Montreal"/>
              </a:rPr>
              <a:t>PIXELPRISM.</a:t>
            </a:r>
            <a:endParaRPr b="0" lang="en-IN" sz="9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48640" y="3246120"/>
            <a:ext cx="1462680" cy="316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48640" y="35204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d4dce2"/>
                </a:solidFill>
                <a:latin typeface="Neue Montreal"/>
              </a:rPr>
              <a:t>Social media marketing,</a:t>
            </a:r>
            <a:endParaRPr b="0" lang="en-IN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548640" y="41605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f4b964"/>
                </a:solidFill>
                <a:latin typeface="Neue Montreal"/>
              </a:rPr>
              <a:t>engineered for enterprise brands.</a:t>
            </a:r>
            <a:endParaRPr b="0" lang="en-IN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548640" y="53492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6d8d9f"/>
                </a:solidFill>
                <a:latin typeface="General Sans"/>
              </a:rPr>
              <a:t>Sharp but Alive.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8899920" y="777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43" strike="noStrike">
                <a:solidFill>
                  <a:srgbClr val="6d8d9f"/>
                </a:solidFill>
                <a:latin typeface="JetBrains Mono"/>
              </a:rPr>
              <a:t>ENTERPRISE / v1.0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02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01 / THE PROBLEM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777240" y="12344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200" spc="-43" strike="noStrike">
                <a:solidFill>
                  <a:srgbClr val="eaeef1"/>
                </a:solidFill>
                <a:latin typeface="Neue Montreal"/>
              </a:rPr>
              <a:t>Brand-consistent social at scale is broken.</a:t>
            </a:r>
            <a:endParaRPr b="0" lang="en-IN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540000" y="2520000"/>
            <a:ext cx="75600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5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Enterprise marketing teams juggle dozens of brands, hundreds of products, and a daily content treadmill.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The existing toolchain — scattered Canva files, spreadsheet calendars, and AI tools that don't know your brand — produces inconsistent work, slow turnarounds, and assets nobody can find again next quarter.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8"/>
          <p:cNvSpPr/>
          <p:nvPr/>
        </p:nvSpPr>
        <p:spPr>
          <a:xfrm>
            <a:off x="8562960" y="2083680"/>
            <a:ext cx="2742840" cy="384012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ectangle 9"/>
          <p:cNvSpPr/>
          <p:nvPr/>
        </p:nvSpPr>
        <p:spPr>
          <a:xfrm>
            <a:off x="8539920" y="2042640"/>
            <a:ext cx="2742840" cy="384012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10"/>
          <p:cNvSpPr/>
          <p:nvPr/>
        </p:nvSpPr>
        <p:spPr>
          <a:xfrm>
            <a:off x="8526240" y="2019600"/>
            <a:ext cx="2742840" cy="384012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1"/>
          <p:cNvSpPr/>
          <p:nvPr/>
        </p:nvSpPr>
        <p:spPr>
          <a:xfrm>
            <a:off x="8754840" y="23396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48" strike="noStrike">
                <a:solidFill>
                  <a:srgbClr val="e8956a"/>
                </a:solidFill>
                <a:latin typeface="Neue Montreal"/>
              </a:rPr>
              <a:t>WHY NOW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12"/>
          <p:cNvSpPr/>
          <p:nvPr/>
        </p:nvSpPr>
        <p:spPr>
          <a:xfrm>
            <a:off x="8754840" y="2751120"/>
            <a:ext cx="23770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15000"/>
              </a:lnSpc>
            </a:pPr>
            <a:r>
              <a:rPr b="1" lang="en-US" sz="2200" spc="-1" strike="noStrike">
                <a:solidFill>
                  <a:srgbClr val="f4b964"/>
                </a:solidFill>
                <a:latin typeface="Neue Montreal"/>
              </a:rPr>
              <a:t>We built PixelPrism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en-US" sz="2200" spc="-1" strike="noStrike">
                <a:solidFill>
                  <a:srgbClr val="f4b964"/>
                </a:solidFill>
                <a:latin typeface="Neue Montreal"/>
              </a:rPr>
              <a:t>for the teams that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en-US" sz="2200" spc="-1" strike="noStrike">
                <a:solidFill>
                  <a:srgbClr val="f4b964"/>
                </a:solidFill>
                <a:latin typeface="Neue Montreal"/>
              </a:rPr>
              <a:t>have outgrown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5000"/>
              </a:lnSpc>
            </a:pPr>
            <a:r>
              <a:rPr b="1" lang="en-US" sz="2200" spc="-1" strike="noStrike">
                <a:solidFill>
                  <a:srgbClr val="f4b964"/>
                </a:solidFill>
                <a:latin typeface="Neue Montreal"/>
              </a:rPr>
              <a:t>“</a:t>
            </a:r>
            <a:r>
              <a:rPr b="1" lang="en-US" sz="2200" spc="-1" strike="noStrike">
                <a:solidFill>
                  <a:srgbClr val="f4b964"/>
                </a:solidFill>
                <a:latin typeface="Neue Montreal"/>
              </a:rPr>
              <a:t>good enough.”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03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02 / SOLUTION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777240" y="12344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600" spc="-38" strike="noStrike">
                <a:solidFill>
                  <a:srgbClr val="eaeef1"/>
                </a:solidFill>
                <a:latin typeface="Neue Montreal"/>
              </a:rPr>
              <a:t>PixelPrism is a marketing OS for enterprise brands.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548640" y="242316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5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One workspace. Many brands. Every asset, every product, every post — produced, scheduled, and measured in one place.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 8"/>
          <p:cNvSpPr/>
          <p:nvPr/>
        </p:nvSpPr>
        <p:spPr>
          <a:xfrm>
            <a:off x="585360" y="3721680"/>
            <a:ext cx="3545280" cy="219420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9"/>
          <p:cNvSpPr/>
          <p:nvPr/>
        </p:nvSpPr>
        <p:spPr>
          <a:xfrm>
            <a:off x="562320" y="3680640"/>
            <a:ext cx="3545280" cy="219420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10"/>
          <p:cNvSpPr/>
          <p:nvPr/>
        </p:nvSpPr>
        <p:spPr>
          <a:xfrm>
            <a:off x="548640" y="3657600"/>
            <a:ext cx="3545280" cy="219420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777240" y="3858840"/>
            <a:ext cx="3179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4b964"/>
                </a:solidFill>
                <a:latin typeface="Neue Montreal"/>
              </a:rPr>
              <a:t>I.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777240" y="4663440"/>
            <a:ext cx="317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143" strike="noStrike">
                <a:solidFill>
                  <a:srgbClr val="eaeef1"/>
                </a:solidFill>
                <a:latin typeface="Neue Montreal"/>
              </a:rPr>
              <a:t>SET UP YOUR BRAND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777240" y="5074920"/>
            <a:ext cx="3179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6d8d9f"/>
                </a:solidFill>
                <a:latin typeface="General Sans"/>
              </a:rPr>
              <a:t>Configure once.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6d8d9f"/>
                </a:solidFill>
                <a:latin typeface="General Sans"/>
              </a:rPr>
              <a:t>Reuse forever.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 14"/>
          <p:cNvSpPr/>
          <p:nvPr/>
        </p:nvSpPr>
        <p:spPr>
          <a:xfrm>
            <a:off x="4359600" y="3721680"/>
            <a:ext cx="3545280" cy="219420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15"/>
          <p:cNvSpPr/>
          <p:nvPr/>
        </p:nvSpPr>
        <p:spPr>
          <a:xfrm>
            <a:off x="4336560" y="3680640"/>
            <a:ext cx="3545280" cy="219420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ectangle 16"/>
          <p:cNvSpPr/>
          <p:nvPr/>
        </p:nvSpPr>
        <p:spPr>
          <a:xfrm>
            <a:off x="4322880" y="3657600"/>
            <a:ext cx="3545280" cy="219420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4551480" y="3858840"/>
            <a:ext cx="3179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4b964"/>
                </a:solidFill>
                <a:latin typeface="Neue Montreal"/>
              </a:rPr>
              <a:t>II.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18"/>
          <p:cNvSpPr/>
          <p:nvPr/>
        </p:nvSpPr>
        <p:spPr>
          <a:xfrm>
            <a:off x="4551480" y="4663440"/>
            <a:ext cx="317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143" strike="noStrike">
                <a:solidFill>
                  <a:srgbClr val="eaeef1"/>
                </a:solidFill>
                <a:latin typeface="Neue Montreal"/>
              </a:rPr>
              <a:t>MAKE THE WORK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4551480" y="5074920"/>
            <a:ext cx="3179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6d8d9f"/>
                </a:solidFill>
                <a:latin typeface="General Sans"/>
              </a:rPr>
              <a:t>Generate. Refine.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6d8d9f"/>
                </a:solidFill>
                <a:latin typeface="General Sans"/>
              </a:rPr>
              <a:t>Approve.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20"/>
          <p:cNvSpPr/>
          <p:nvPr/>
        </p:nvSpPr>
        <p:spPr>
          <a:xfrm>
            <a:off x="8133840" y="3721680"/>
            <a:ext cx="3545280" cy="219420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21"/>
          <p:cNvSpPr/>
          <p:nvPr/>
        </p:nvSpPr>
        <p:spPr>
          <a:xfrm>
            <a:off x="8111160" y="3680640"/>
            <a:ext cx="3545280" cy="219420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ectangle 22"/>
          <p:cNvSpPr/>
          <p:nvPr/>
        </p:nvSpPr>
        <p:spPr>
          <a:xfrm>
            <a:off x="8097480" y="3657600"/>
            <a:ext cx="3545280" cy="219420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3"/>
          <p:cNvSpPr/>
          <p:nvPr/>
        </p:nvSpPr>
        <p:spPr>
          <a:xfrm>
            <a:off x="8326080" y="3858840"/>
            <a:ext cx="3179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4b964"/>
                </a:solidFill>
                <a:latin typeface="Neue Montreal"/>
              </a:rPr>
              <a:t>III.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24"/>
          <p:cNvSpPr/>
          <p:nvPr/>
        </p:nvSpPr>
        <p:spPr>
          <a:xfrm>
            <a:off x="8326080" y="4663440"/>
            <a:ext cx="317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143" strike="noStrike">
                <a:solidFill>
                  <a:srgbClr val="eaeef1"/>
                </a:solidFill>
                <a:latin typeface="Neue Montreal"/>
              </a:rPr>
              <a:t>PUBLISH &amp; LEARN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25"/>
          <p:cNvSpPr/>
          <p:nvPr/>
        </p:nvSpPr>
        <p:spPr>
          <a:xfrm>
            <a:off x="8326080" y="5074920"/>
            <a:ext cx="3179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6d8d9f"/>
                </a:solidFill>
                <a:latin typeface="General Sans"/>
              </a:rPr>
              <a:t>Ship the work.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6d8d9f"/>
                </a:solidFill>
                <a:latin typeface="General Sans"/>
              </a:rPr>
              <a:t>Measure the lift.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04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 / DIVIDER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548640" y="128016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2000" spc="-1600" strike="noStrike">
                <a:solidFill>
                  <a:srgbClr val="f4b964"/>
                </a:solidFill>
                <a:latin typeface="Neue Montreal"/>
              </a:rPr>
              <a:t>I</a:t>
            </a:r>
            <a:endParaRPr b="0" lang="en-IN" sz="3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 6"/>
          <p:cNvSpPr/>
          <p:nvPr/>
        </p:nvSpPr>
        <p:spPr>
          <a:xfrm>
            <a:off x="5303520" y="2103120"/>
            <a:ext cx="72720" cy="3108600"/>
          </a:xfrm>
          <a:prstGeom prst="rect">
            <a:avLst/>
          </a:prstGeom>
          <a:solidFill>
            <a:srgbClr val="e89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5669280" y="23774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5669280" y="27432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400" spc="-46" strike="noStrike">
                <a:solidFill>
                  <a:srgbClr val="eaeef1"/>
                </a:solidFill>
                <a:latin typeface="Neue Montreal"/>
              </a:rPr>
              <a:t>Set Up Your Brand.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5669280" y="420624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6d8d9f"/>
                </a:solidFill>
                <a:latin typeface="General Sans"/>
              </a:rPr>
              <a:t>Configure once. Reuse forever.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05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 / SET UP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One workspace, many brands.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Each brand is its own fully-isolated world inside PixelPrism.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Spin up dedicated workspaces per brand — separate assets, voice, and team.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Switch contexts in one click. No cross-contamination between brands.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Role-based access per brand. Your apparel team never sees your beauty team's work.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BRAND WORKSPACES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ectangle 18"/>
          <p:cNvSpPr/>
          <p:nvPr/>
        </p:nvSpPr>
        <p:spPr>
          <a:xfrm>
            <a:off x="8092440" y="2057400"/>
            <a:ext cx="329148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ectangle 19"/>
          <p:cNvSpPr/>
          <p:nvPr/>
        </p:nvSpPr>
        <p:spPr>
          <a:xfrm>
            <a:off x="8256960" y="2258640"/>
            <a:ext cx="164160" cy="16416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20"/>
          <p:cNvSpPr/>
          <p:nvPr/>
        </p:nvSpPr>
        <p:spPr>
          <a:xfrm>
            <a:off x="8549640" y="21762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09" strike="noStrike">
                <a:solidFill>
                  <a:srgbClr val="eaeef1"/>
                </a:solidFill>
                <a:latin typeface="Neue Montreal"/>
              </a:rPr>
              <a:t>STRATUS APPAREL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21"/>
          <p:cNvSpPr/>
          <p:nvPr/>
        </p:nvSpPr>
        <p:spPr>
          <a:xfrm>
            <a:off x="8549640" y="23684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29" strike="noStrike">
                <a:solidFill>
                  <a:srgbClr val="6d8d9f"/>
                </a:solidFill>
                <a:latin typeface="JetBrains Mono"/>
              </a:rPr>
              <a:t>7.0M  followers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 22"/>
          <p:cNvSpPr/>
          <p:nvPr/>
        </p:nvSpPr>
        <p:spPr>
          <a:xfrm>
            <a:off x="8092440" y="2752200"/>
            <a:ext cx="329148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23"/>
          <p:cNvSpPr/>
          <p:nvPr/>
        </p:nvSpPr>
        <p:spPr>
          <a:xfrm>
            <a:off x="8256960" y="2953440"/>
            <a:ext cx="164160" cy="164160"/>
          </a:xfrm>
          <a:prstGeom prst="rect">
            <a:avLst/>
          </a:prstGeom>
          <a:solidFill>
            <a:srgbClr val="64dc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24"/>
          <p:cNvSpPr/>
          <p:nvPr/>
        </p:nvSpPr>
        <p:spPr>
          <a:xfrm>
            <a:off x="8549640" y="28713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09" strike="noStrike">
                <a:solidFill>
                  <a:srgbClr val="eaeef1"/>
                </a:solidFill>
                <a:latin typeface="Neue Montreal"/>
              </a:rPr>
              <a:t>AURA BEAUTY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25"/>
          <p:cNvSpPr/>
          <p:nvPr/>
        </p:nvSpPr>
        <p:spPr>
          <a:xfrm>
            <a:off x="8549640" y="3063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29" strike="noStrike">
                <a:solidFill>
                  <a:srgbClr val="6d8d9f"/>
                </a:solidFill>
                <a:latin typeface="JetBrains Mono"/>
              </a:rPr>
              <a:t>14.3M  followers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 26"/>
          <p:cNvSpPr/>
          <p:nvPr/>
        </p:nvSpPr>
        <p:spPr>
          <a:xfrm>
            <a:off x="8092440" y="3447360"/>
            <a:ext cx="329148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27"/>
          <p:cNvSpPr/>
          <p:nvPr/>
        </p:nvSpPr>
        <p:spPr>
          <a:xfrm>
            <a:off x="8256960" y="3648600"/>
            <a:ext cx="164160" cy="164160"/>
          </a:xfrm>
          <a:prstGeom prst="rect">
            <a:avLst/>
          </a:prstGeom>
          <a:solidFill>
            <a:srgbClr val="e89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8"/>
          <p:cNvSpPr/>
          <p:nvPr/>
        </p:nvSpPr>
        <p:spPr>
          <a:xfrm>
            <a:off x="8549640" y="3566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09" strike="noStrike">
                <a:solidFill>
                  <a:srgbClr val="eaeef1"/>
                </a:solidFill>
                <a:latin typeface="Neue Montreal"/>
              </a:rPr>
              <a:t>NORTH WORKS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29"/>
          <p:cNvSpPr/>
          <p:nvPr/>
        </p:nvSpPr>
        <p:spPr>
          <a:xfrm>
            <a:off x="8549640" y="3758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29" strike="noStrike">
                <a:solidFill>
                  <a:srgbClr val="6d8d9f"/>
                </a:solidFill>
                <a:latin typeface="JetBrains Mono"/>
              </a:rPr>
              <a:t>21.6M  followers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ectangle 30"/>
          <p:cNvSpPr/>
          <p:nvPr/>
        </p:nvSpPr>
        <p:spPr>
          <a:xfrm>
            <a:off x="8092440" y="4142160"/>
            <a:ext cx="329148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Rectangle 31"/>
          <p:cNvSpPr/>
          <p:nvPr/>
        </p:nvSpPr>
        <p:spPr>
          <a:xfrm>
            <a:off x="8256960" y="4343400"/>
            <a:ext cx="164160" cy="164160"/>
          </a:xfrm>
          <a:prstGeom prst="rect">
            <a:avLst/>
          </a:prstGeom>
          <a:solidFill>
            <a:srgbClr val="a4f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32"/>
          <p:cNvSpPr/>
          <p:nvPr/>
        </p:nvSpPr>
        <p:spPr>
          <a:xfrm>
            <a:off x="8549640" y="4260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09" strike="noStrike">
                <a:solidFill>
                  <a:srgbClr val="eaeef1"/>
                </a:solidFill>
                <a:latin typeface="Neue Montreal"/>
              </a:rPr>
              <a:t>FERN &amp; OAK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33"/>
          <p:cNvSpPr/>
          <p:nvPr/>
        </p:nvSpPr>
        <p:spPr>
          <a:xfrm>
            <a:off x="8549640" y="44532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" spc="29" strike="noStrike">
                <a:solidFill>
                  <a:srgbClr val="6d8d9f"/>
                </a:solidFill>
                <a:latin typeface="JetBrains Mono"/>
              </a:rPr>
              <a:t>28.9M  followers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06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 / SET UP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Your brand's library, always at hand.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Upload your identity once. The system uses it everywhere you create.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Logos, color palettes, and reference imagery live in one place.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Every generated asset pulls from the library automatically.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No more “where's the latest logo?” Slack threads at 4pm.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BRAND LIBRARY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18"/>
          <p:cNvSpPr/>
          <p:nvPr/>
        </p:nvSpPr>
        <p:spPr>
          <a:xfrm>
            <a:off x="8092440" y="2057400"/>
            <a:ext cx="974880" cy="166860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19"/>
          <p:cNvSpPr/>
          <p:nvPr/>
        </p:nvSpPr>
        <p:spPr>
          <a:xfrm>
            <a:off x="8092440" y="2057400"/>
            <a:ext cx="97488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4b964"/>
                </a:solidFill>
                <a:latin typeface="Neue Montreal"/>
              </a:rPr>
              <a:t>S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20"/>
          <p:cNvSpPr/>
          <p:nvPr/>
        </p:nvSpPr>
        <p:spPr>
          <a:xfrm>
            <a:off x="9250560" y="2057400"/>
            <a:ext cx="974880" cy="166860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21"/>
          <p:cNvSpPr/>
          <p:nvPr/>
        </p:nvSpPr>
        <p:spPr>
          <a:xfrm>
            <a:off x="9250560" y="2057400"/>
            <a:ext cx="97488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4b964"/>
                </a:solidFill>
                <a:latin typeface="Neue Montreal"/>
              </a:rPr>
              <a:t>A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ectangle 22"/>
          <p:cNvSpPr/>
          <p:nvPr/>
        </p:nvSpPr>
        <p:spPr>
          <a:xfrm>
            <a:off x="10409040" y="2057400"/>
            <a:ext cx="974880" cy="166860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3"/>
          <p:cNvSpPr/>
          <p:nvPr/>
        </p:nvSpPr>
        <p:spPr>
          <a:xfrm>
            <a:off x="10409040" y="2057400"/>
            <a:ext cx="97488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4b964"/>
                </a:solidFill>
                <a:latin typeface="Neue Montreal"/>
              </a:rPr>
              <a:t>N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ectangle 24"/>
          <p:cNvSpPr/>
          <p:nvPr/>
        </p:nvSpPr>
        <p:spPr>
          <a:xfrm>
            <a:off x="8092440" y="3909240"/>
            <a:ext cx="974880" cy="166860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25"/>
          <p:cNvSpPr/>
          <p:nvPr/>
        </p:nvSpPr>
        <p:spPr>
          <a:xfrm>
            <a:off x="8092440" y="3909240"/>
            <a:ext cx="97488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4b964"/>
                </a:solidFill>
                <a:latin typeface="Neue Montreal"/>
              </a:rPr>
              <a:t>F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ectangle 26"/>
          <p:cNvSpPr/>
          <p:nvPr/>
        </p:nvSpPr>
        <p:spPr>
          <a:xfrm>
            <a:off x="9250560" y="3909240"/>
            <a:ext cx="974880" cy="166860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7"/>
          <p:cNvSpPr/>
          <p:nvPr/>
        </p:nvSpPr>
        <p:spPr>
          <a:xfrm>
            <a:off x="9250560" y="3909240"/>
            <a:ext cx="97488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4b964"/>
                </a:solidFill>
                <a:latin typeface="Neue Montreal"/>
              </a:rPr>
              <a:t>+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ectangle 28"/>
          <p:cNvSpPr/>
          <p:nvPr/>
        </p:nvSpPr>
        <p:spPr>
          <a:xfrm>
            <a:off x="10409040" y="3909240"/>
            <a:ext cx="974880" cy="166860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29"/>
          <p:cNvSpPr/>
          <p:nvPr/>
        </p:nvSpPr>
        <p:spPr>
          <a:xfrm>
            <a:off x="10409040" y="3909240"/>
            <a:ext cx="97488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4b964"/>
                </a:solidFill>
                <a:latin typeface="Neue Montreal"/>
              </a:rPr>
              <a:t>+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07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 / SET UP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Your catalog, weaponized for content.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Every product becomes a first-class content primitive.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Each product has an image, story, and metadata in PixelPrism.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Drag a product into a template — fields auto-fill. No copy-paste.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When the catalog updates, content updates with it.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PRODUCT RECORD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ectangle 18"/>
          <p:cNvSpPr/>
          <p:nvPr/>
        </p:nvSpPr>
        <p:spPr>
          <a:xfrm>
            <a:off x="8092440" y="2057400"/>
            <a:ext cx="3291480" cy="213696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ectangle 19"/>
          <p:cNvSpPr/>
          <p:nvPr/>
        </p:nvSpPr>
        <p:spPr>
          <a:xfrm>
            <a:off x="8458200" y="3097440"/>
            <a:ext cx="2559960" cy="3636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20"/>
          <p:cNvSpPr/>
          <p:nvPr/>
        </p:nvSpPr>
        <p:spPr>
          <a:xfrm>
            <a:off x="8092440" y="328032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199" strike="noStrike">
                <a:solidFill>
                  <a:srgbClr val="f4b964"/>
                </a:solidFill>
                <a:latin typeface="Neue Montreal"/>
              </a:rPr>
              <a:t>RUNNER · LIMITED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21"/>
          <p:cNvSpPr/>
          <p:nvPr/>
        </p:nvSpPr>
        <p:spPr>
          <a:xfrm>
            <a:off x="8092440" y="4377600"/>
            <a:ext cx="32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eef1"/>
                </a:solidFill>
                <a:latin typeface="Neue Montreal"/>
              </a:rPr>
              <a:t>Stratus Lo Sneaker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22"/>
          <p:cNvSpPr/>
          <p:nvPr/>
        </p:nvSpPr>
        <p:spPr>
          <a:xfrm>
            <a:off x="8092440" y="48805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d8d9f"/>
                </a:solidFill>
                <a:latin typeface="General Sans"/>
              </a:rPr>
              <a:t>Performance · SS26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23"/>
          <p:cNvSpPr/>
          <p:nvPr/>
        </p:nvSpPr>
        <p:spPr>
          <a:xfrm>
            <a:off x="8092440" y="52462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69" strike="noStrike">
                <a:solidFill>
                  <a:srgbClr val="f4b964"/>
                </a:solidFill>
                <a:latin typeface="JetBrains Mono"/>
              </a:rPr>
              <a:t>$ 189.00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08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 / SET UP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Templates that lock in your brand.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Brand-fielded layouts so no one can drift off-brand by accident.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Define your most-used post formats — hero shot, product feature, quote card, carousel intro.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Each template is a layout with brand-locked fields you fill in.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Onboard a new designer in an hour. The template won't let them break the brand.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TEMPLATE SCHEMA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ectangle 18"/>
          <p:cNvSpPr/>
          <p:nvPr/>
        </p:nvSpPr>
        <p:spPr>
          <a:xfrm>
            <a:off x="8092440" y="2057400"/>
            <a:ext cx="3291480" cy="146268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19"/>
          <p:cNvSpPr/>
          <p:nvPr/>
        </p:nvSpPr>
        <p:spPr>
          <a:xfrm>
            <a:off x="8092440" y="2057400"/>
            <a:ext cx="3291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219" strike="noStrike">
                <a:solidFill>
                  <a:srgbClr val="6d8d9f"/>
                </a:solidFill>
                <a:latin typeface="Neue Montreal"/>
              </a:rPr>
              <a:t>PRODUCT HERO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 20"/>
          <p:cNvSpPr/>
          <p:nvPr/>
        </p:nvSpPr>
        <p:spPr>
          <a:xfrm>
            <a:off x="8092440" y="3657600"/>
            <a:ext cx="1928880" cy="50256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21"/>
          <p:cNvSpPr/>
          <p:nvPr/>
        </p:nvSpPr>
        <p:spPr>
          <a:xfrm>
            <a:off x="8092440" y="3657600"/>
            <a:ext cx="1928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4b964"/>
                </a:solidFill>
                <a:latin typeface="JetBrains Mono"/>
              </a:rPr>
              <a:t>{{TITLE}}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ectangle 22"/>
          <p:cNvSpPr/>
          <p:nvPr/>
        </p:nvSpPr>
        <p:spPr>
          <a:xfrm>
            <a:off x="10113120" y="3657600"/>
            <a:ext cx="1270800" cy="50256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23"/>
          <p:cNvSpPr/>
          <p:nvPr/>
        </p:nvSpPr>
        <p:spPr>
          <a:xfrm>
            <a:off x="10113120" y="3657600"/>
            <a:ext cx="1270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4b964"/>
                </a:solidFill>
                <a:latin typeface="JetBrains Mono"/>
              </a:rPr>
              <a:t>{{PRICE}}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ectangle 24"/>
          <p:cNvSpPr/>
          <p:nvPr/>
        </p:nvSpPr>
        <p:spPr>
          <a:xfrm>
            <a:off x="8092440" y="4297680"/>
            <a:ext cx="3291480" cy="50256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25"/>
          <p:cNvSpPr/>
          <p:nvPr/>
        </p:nvSpPr>
        <p:spPr>
          <a:xfrm>
            <a:off x="8092440" y="429768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4b964"/>
                </a:solidFill>
                <a:latin typeface="JetBrains Mono"/>
              </a:rPr>
              <a:t>{{CTA}}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Box 26"/>
          <p:cNvSpPr/>
          <p:nvPr/>
        </p:nvSpPr>
        <p:spPr>
          <a:xfrm>
            <a:off x="8092440" y="49377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117" strike="noStrike">
                <a:solidFill>
                  <a:srgbClr val="6d8d9f"/>
                </a:solidFill>
                <a:latin typeface="Neue Montreal"/>
              </a:rPr>
              <a:t>FIELDS LOCK BRAND CONSISTENCY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09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 / DIVIDER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Box 5"/>
          <p:cNvSpPr/>
          <p:nvPr/>
        </p:nvSpPr>
        <p:spPr>
          <a:xfrm>
            <a:off x="548640" y="128016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2000" spc="-1600" strike="noStrike">
                <a:solidFill>
                  <a:srgbClr val="f4b964"/>
                </a:solidFill>
                <a:latin typeface="Neue Montreal"/>
              </a:rPr>
              <a:t>II</a:t>
            </a:r>
            <a:endParaRPr b="0" lang="en-IN" sz="3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Rectangle 6"/>
          <p:cNvSpPr/>
          <p:nvPr/>
        </p:nvSpPr>
        <p:spPr>
          <a:xfrm>
            <a:off x="5303520" y="2103120"/>
            <a:ext cx="72720" cy="3108600"/>
          </a:xfrm>
          <a:prstGeom prst="rect">
            <a:avLst/>
          </a:prstGeom>
          <a:solidFill>
            <a:srgbClr val="e89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5669280" y="23774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5669280" y="27432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400" spc="-46" strike="noStrike">
                <a:solidFill>
                  <a:srgbClr val="eaeef1"/>
                </a:solidFill>
                <a:latin typeface="Neue Montreal"/>
              </a:rPr>
              <a:t>Make the Work.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5669280" y="420624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6d8d9f"/>
                </a:solidFill>
                <a:latin typeface="General Sans"/>
              </a:rPr>
              <a:t>Generate. Refine. Approve.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10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 / CREATE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Studio-grade visuals, generated to brief.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AI image generation tuned to your brand colors, logos, and product imagery.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Prompt with intent. (“Hero shot, new runner, wet pavement, dusk.”)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Output respects your palette, your logos, your product shapes.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Iterate in seconds. Save the keepers. Discard the rest.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BRAND PALETTE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Rectangle 18"/>
          <p:cNvSpPr/>
          <p:nvPr/>
        </p:nvSpPr>
        <p:spPr>
          <a:xfrm>
            <a:off x="8092440" y="2057400"/>
            <a:ext cx="639720" cy="56664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Rectangle 19"/>
          <p:cNvSpPr/>
          <p:nvPr/>
        </p:nvSpPr>
        <p:spPr>
          <a:xfrm>
            <a:off x="8732520" y="2057400"/>
            <a:ext cx="265140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20"/>
          <p:cNvSpPr/>
          <p:nvPr/>
        </p:nvSpPr>
        <p:spPr>
          <a:xfrm>
            <a:off x="8915400" y="210312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48" strike="noStrike">
                <a:solidFill>
                  <a:srgbClr val="eaeef1"/>
                </a:solidFill>
                <a:latin typeface="Neue Montreal"/>
              </a:rPr>
              <a:t>GOLD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21"/>
          <p:cNvSpPr/>
          <p:nvPr/>
        </p:nvSpPr>
        <p:spPr>
          <a:xfrm>
            <a:off x="8915400" y="233172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35" strike="noStrike">
                <a:solidFill>
                  <a:srgbClr val="6d8d9f"/>
                </a:solidFill>
                <a:latin typeface="JetBrains Mono"/>
              </a:rPr>
              <a:t>#F4B964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ectangle 22"/>
          <p:cNvSpPr/>
          <p:nvPr/>
        </p:nvSpPr>
        <p:spPr>
          <a:xfrm>
            <a:off x="8092440" y="2752200"/>
            <a:ext cx="639720" cy="566640"/>
          </a:xfrm>
          <a:prstGeom prst="rect">
            <a:avLst/>
          </a:prstGeom>
          <a:solidFill>
            <a:srgbClr val="64dc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Rectangle 23"/>
          <p:cNvSpPr/>
          <p:nvPr/>
        </p:nvSpPr>
        <p:spPr>
          <a:xfrm>
            <a:off x="8732520" y="2752200"/>
            <a:ext cx="265140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24"/>
          <p:cNvSpPr/>
          <p:nvPr/>
        </p:nvSpPr>
        <p:spPr>
          <a:xfrm>
            <a:off x="8915400" y="279792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48" strike="noStrike">
                <a:solidFill>
                  <a:srgbClr val="eaeef1"/>
                </a:solidFill>
                <a:latin typeface="Neue Montreal"/>
              </a:rPr>
              <a:t>CYAN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Box 25"/>
          <p:cNvSpPr/>
          <p:nvPr/>
        </p:nvSpPr>
        <p:spPr>
          <a:xfrm>
            <a:off x="8915400" y="302652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35" strike="noStrike">
                <a:solidFill>
                  <a:srgbClr val="6d8d9f"/>
                </a:solidFill>
                <a:latin typeface="JetBrains Mono"/>
              </a:rPr>
              <a:t>#64DCF4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Rectangle 26"/>
          <p:cNvSpPr/>
          <p:nvPr/>
        </p:nvSpPr>
        <p:spPr>
          <a:xfrm>
            <a:off x="8092440" y="3447360"/>
            <a:ext cx="639720" cy="566640"/>
          </a:xfrm>
          <a:prstGeom prst="rect">
            <a:avLst/>
          </a:prstGeom>
          <a:solidFill>
            <a:srgbClr val="e89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Rectangle 27"/>
          <p:cNvSpPr/>
          <p:nvPr/>
        </p:nvSpPr>
        <p:spPr>
          <a:xfrm>
            <a:off x="8732520" y="3447360"/>
            <a:ext cx="265140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28"/>
          <p:cNvSpPr/>
          <p:nvPr/>
        </p:nvSpPr>
        <p:spPr>
          <a:xfrm>
            <a:off x="8915400" y="34930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48" strike="noStrike">
                <a:solidFill>
                  <a:srgbClr val="eaeef1"/>
                </a:solidFill>
                <a:latin typeface="Neue Montreal"/>
              </a:rPr>
              <a:t>CORAL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29"/>
          <p:cNvSpPr/>
          <p:nvPr/>
        </p:nvSpPr>
        <p:spPr>
          <a:xfrm>
            <a:off x="8915400" y="37216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35" strike="noStrike">
                <a:solidFill>
                  <a:srgbClr val="6d8d9f"/>
                </a:solidFill>
                <a:latin typeface="JetBrains Mono"/>
              </a:rPr>
              <a:t>#E8956A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Rectangle 30"/>
          <p:cNvSpPr/>
          <p:nvPr/>
        </p:nvSpPr>
        <p:spPr>
          <a:xfrm>
            <a:off x="8092440" y="4142160"/>
            <a:ext cx="639720" cy="566640"/>
          </a:xfrm>
          <a:prstGeom prst="rect">
            <a:avLst/>
          </a:prstGeom>
          <a:solidFill>
            <a:srgbClr val="a4f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Rectangle 31"/>
          <p:cNvSpPr/>
          <p:nvPr/>
        </p:nvSpPr>
        <p:spPr>
          <a:xfrm>
            <a:off x="8732520" y="4142160"/>
            <a:ext cx="2651400" cy="5666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32"/>
          <p:cNvSpPr/>
          <p:nvPr/>
        </p:nvSpPr>
        <p:spPr>
          <a:xfrm>
            <a:off x="8915400" y="41878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48" strike="noStrike">
                <a:solidFill>
                  <a:srgbClr val="eaeef1"/>
                </a:solidFill>
                <a:latin typeface="Neue Montreal"/>
              </a:rPr>
              <a:t>LIME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33"/>
          <p:cNvSpPr/>
          <p:nvPr/>
        </p:nvSpPr>
        <p:spPr>
          <a:xfrm>
            <a:off x="8915400" y="441648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35" strike="noStrike">
                <a:solidFill>
                  <a:srgbClr val="6d8d9f"/>
                </a:solidFill>
                <a:latin typeface="JetBrains Mono"/>
              </a:rPr>
              <a:t>#A4F464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11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 / CREATE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Captions that sound like your brand.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A caption generator that learns your tone — and avoids the tones you've rejected.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Generate captions, hooks, and hashtag sets in your voice.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Trained on what you've approved. Avoids patterns you've rejected.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Built into the scheduler — no more shuffling between tools.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CAPTION DRAFT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18"/>
          <p:cNvSpPr/>
          <p:nvPr/>
        </p:nvSpPr>
        <p:spPr>
          <a:xfrm>
            <a:off x="8092440" y="21031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f4b964"/>
                </a:solidFill>
                <a:latin typeface="Neue Montreal"/>
              </a:rPr>
              <a:t>DRAFT 03 / TONE: WARM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19"/>
          <p:cNvSpPr/>
          <p:nvPr/>
        </p:nvSpPr>
        <p:spPr>
          <a:xfrm>
            <a:off x="8092440" y="2514600"/>
            <a:ext cx="32914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50000"/>
              </a:lnSpc>
            </a:pPr>
            <a:r>
              <a:rPr b="0" lang="en-US" sz="1300" spc="-1" strike="noStrike">
                <a:solidFill>
                  <a:srgbClr val="eaeef1"/>
                </a:solidFill>
                <a:latin typeface="General Sans"/>
              </a:rPr>
              <a:t>Made for the long route home.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300" spc="-1" strike="noStrike">
                <a:solidFill>
                  <a:srgbClr val="eaeef1"/>
                </a:solidFill>
                <a:latin typeface="General Sans"/>
              </a:rPr>
              <a:t>Engineered to shrug off everything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300" spc="-1" strike="noStrike">
                <a:solidFill>
                  <a:srgbClr val="eaeef1"/>
                </a:solidFill>
                <a:latin typeface="General Sans"/>
              </a:rPr>
              <a:t>the sidewalk has in mind.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50000"/>
              </a:lnSpc>
            </a:pP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b="0" lang="en-US" sz="1300" spc="-1" strike="noStrike">
                <a:solidFill>
                  <a:srgbClr val="eaeef1"/>
                </a:solidFill>
                <a:latin typeface="General Sans"/>
              </a:rPr>
              <a:t>#stratus  #ss26  #everydaycarry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20"/>
          <p:cNvSpPr/>
          <p:nvPr/>
        </p:nvSpPr>
        <p:spPr>
          <a:xfrm>
            <a:off x="8092440" y="49377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00" spc="117" strike="noStrike">
                <a:solidFill>
                  <a:srgbClr val="6d8d9f"/>
                </a:solidFill>
                <a:latin typeface="Neue Montreal"/>
              </a:rPr>
              <a:t>TONE MATCH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ectangle 21"/>
          <p:cNvSpPr/>
          <p:nvPr/>
        </p:nvSpPr>
        <p:spPr>
          <a:xfrm>
            <a:off x="8092440" y="5166360"/>
            <a:ext cx="3291480" cy="72720"/>
          </a:xfrm>
          <a:prstGeom prst="rect">
            <a:avLst/>
          </a:prstGeom>
          <a:solidFill>
            <a:srgbClr val="0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22"/>
          <p:cNvSpPr/>
          <p:nvPr/>
        </p:nvSpPr>
        <p:spPr>
          <a:xfrm>
            <a:off x="8092440" y="5166360"/>
            <a:ext cx="283068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12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 / CREATE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Approval, without the email chain.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A real review queue per brand — with a clear audit trail.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Drafts queue per brand. Reviewers approve or comment inline.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Approved work moves to scheduling automatically.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Full audit trail: who said yes, who said no, when.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REVIEW QUEUE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Rectangle 18"/>
          <p:cNvSpPr/>
          <p:nvPr/>
        </p:nvSpPr>
        <p:spPr>
          <a:xfrm>
            <a:off x="8092440" y="2103120"/>
            <a:ext cx="3291480" cy="73116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19"/>
          <p:cNvSpPr/>
          <p:nvPr/>
        </p:nvSpPr>
        <p:spPr>
          <a:xfrm>
            <a:off x="8275320" y="2395800"/>
            <a:ext cx="164160" cy="164160"/>
          </a:xfrm>
          <a:prstGeom prst="rect">
            <a:avLst/>
          </a:prstGeom>
          <a:solidFill>
            <a:srgbClr val="6d8d9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8595360" y="224928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143" strike="noStrike">
                <a:solidFill>
                  <a:srgbClr val="eaeef1"/>
                </a:solidFill>
                <a:latin typeface="Neue Montreal"/>
              </a:rPr>
              <a:t>DRAFT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21"/>
          <p:cNvSpPr/>
          <p:nvPr/>
        </p:nvSpPr>
        <p:spPr>
          <a:xfrm>
            <a:off x="8595360" y="24962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d8d9f"/>
                </a:solidFill>
                <a:latin typeface="General Sans"/>
              </a:rPr>
              <a:t>Created by Maya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Rectangle 22"/>
          <p:cNvSpPr/>
          <p:nvPr/>
        </p:nvSpPr>
        <p:spPr>
          <a:xfrm>
            <a:off x="8092440" y="2999160"/>
            <a:ext cx="3291480" cy="73116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Rectangle 23"/>
          <p:cNvSpPr/>
          <p:nvPr/>
        </p:nvSpPr>
        <p:spPr>
          <a:xfrm>
            <a:off x="8275320" y="3291840"/>
            <a:ext cx="164160" cy="164160"/>
          </a:xfrm>
          <a:prstGeom prst="rect">
            <a:avLst/>
          </a:prstGeom>
          <a:solidFill>
            <a:srgbClr val="e89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24"/>
          <p:cNvSpPr/>
          <p:nvPr/>
        </p:nvSpPr>
        <p:spPr>
          <a:xfrm>
            <a:off x="8595360" y="314568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143" strike="noStrike">
                <a:solidFill>
                  <a:srgbClr val="eaeef1"/>
                </a:solidFill>
                <a:latin typeface="Neue Montreal"/>
              </a:rPr>
              <a:t>REVIEW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Box 25"/>
          <p:cNvSpPr/>
          <p:nvPr/>
        </p:nvSpPr>
        <p:spPr>
          <a:xfrm>
            <a:off x="8595360" y="33922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d8d9f"/>
                </a:solidFill>
                <a:latin typeface="General Sans"/>
              </a:rPr>
              <a:t>Awaiting Brand Lead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Rectangle 26"/>
          <p:cNvSpPr/>
          <p:nvPr/>
        </p:nvSpPr>
        <p:spPr>
          <a:xfrm>
            <a:off x="8092440" y="3895200"/>
            <a:ext cx="3291480" cy="73116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Rectangle 27"/>
          <p:cNvSpPr/>
          <p:nvPr/>
        </p:nvSpPr>
        <p:spPr>
          <a:xfrm>
            <a:off x="8275320" y="4187880"/>
            <a:ext cx="164160" cy="164160"/>
          </a:xfrm>
          <a:prstGeom prst="rect">
            <a:avLst/>
          </a:prstGeom>
          <a:solidFill>
            <a:srgbClr val="a4f4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28"/>
          <p:cNvSpPr/>
          <p:nvPr/>
        </p:nvSpPr>
        <p:spPr>
          <a:xfrm>
            <a:off x="8595360" y="40417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143" strike="noStrike">
                <a:solidFill>
                  <a:srgbClr val="eaeef1"/>
                </a:solidFill>
                <a:latin typeface="Neue Montreal"/>
              </a:rPr>
              <a:t>APPROVED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29"/>
          <p:cNvSpPr/>
          <p:nvPr/>
        </p:nvSpPr>
        <p:spPr>
          <a:xfrm>
            <a:off x="8595360" y="42886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d8d9f"/>
                </a:solidFill>
                <a:latin typeface="General Sans"/>
              </a:rPr>
              <a:t>Ready to schedule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13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III / DIVIDER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Box 5"/>
          <p:cNvSpPr/>
          <p:nvPr/>
        </p:nvSpPr>
        <p:spPr>
          <a:xfrm>
            <a:off x="548640" y="128016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2000" spc="-1600" strike="noStrike">
                <a:solidFill>
                  <a:srgbClr val="f4b964"/>
                </a:solidFill>
                <a:latin typeface="Neue Montreal"/>
              </a:rPr>
              <a:t>III</a:t>
            </a:r>
            <a:endParaRPr b="0" lang="en-IN" sz="3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Rectangle 6"/>
          <p:cNvSpPr/>
          <p:nvPr/>
        </p:nvSpPr>
        <p:spPr>
          <a:xfrm>
            <a:off x="5303520" y="2103120"/>
            <a:ext cx="72720" cy="3108600"/>
          </a:xfrm>
          <a:prstGeom prst="rect">
            <a:avLst/>
          </a:prstGeom>
          <a:solidFill>
            <a:srgbClr val="e895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7"/>
          <p:cNvSpPr/>
          <p:nvPr/>
        </p:nvSpPr>
        <p:spPr>
          <a:xfrm>
            <a:off x="5669280" y="23774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III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8"/>
          <p:cNvSpPr/>
          <p:nvPr/>
        </p:nvSpPr>
        <p:spPr>
          <a:xfrm>
            <a:off x="5669280" y="27432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4400" spc="-46" strike="noStrike">
                <a:solidFill>
                  <a:srgbClr val="eaeef1"/>
                </a:solidFill>
                <a:latin typeface="Neue Montreal"/>
              </a:rPr>
              <a:t>Publish &amp; Learn.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Box 9"/>
          <p:cNvSpPr/>
          <p:nvPr/>
        </p:nvSpPr>
        <p:spPr>
          <a:xfrm>
            <a:off x="5669280" y="420624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6d8d9f"/>
                </a:solidFill>
                <a:latin typeface="General Sans"/>
              </a:rPr>
              <a:t>Ship the work. Measure the lift.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14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III / PUBLISH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Your Instagram calendar, in one place.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Plan the week. Drop in posts. Publish without leaving the studio.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Drag-drop scheduling per brand. See gaps before they happen.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Native Instagram publishing — Feed, Reels, and Stories from one composer.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Reschedule, swap captions, or pause campaigns in a click.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WEEKLY SCHEDULE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Box 18"/>
          <p:cNvSpPr/>
          <p:nvPr/>
        </p:nvSpPr>
        <p:spPr>
          <a:xfrm>
            <a:off x="8092440" y="205740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MON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Box 19"/>
          <p:cNvSpPr/>
          <p:nvPr/>
        </p:nvSpPr>
        <p:spPr>
          <a:xfrm>
            <a:off x="8750880" y="205740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TUE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0"/>
          <p:cNvSpPr/>
          <p:nvPr/>
        </p:nvSpPr>
        <p:spPr>
          <a:xfrm>
            <a:off x="9409320" y="205740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WED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Box 21"/>
          <p:cNvSpPr/>
          <p:nvPr/>
        </p:nvSpPr>
        <p:spPr>
          <a:xfrm>
            <a:off x="10067400" y="205740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THU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22"/>
          <p:cNvSpPr/>
          <p:nvPr/>
        </p:nvSpPr>
        <p:spPr>
          <a:xfrm>
            <a:off x="10725840" y="2057400"/>
            <a:ext cx="658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FRI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Rectangle 23"/>
          <p:cNvSpPr/>
          <p:nvPr/>
        </p:nvSpPr>
        <p:spPr>
          <a:xfrm>
            <a:off x="8129160" y="237744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Rectangle 24"/>
          <p:cNvSpPr/>
          <p:nvPr/>
        </p:nvSpPr>
        <p:spPr>
          <a:xfrm>
            <a:off x="8787240" y="2377440"/>
            <a:ext cx="585000" cy="837720"/>
          </a:xfrm>
          <a:prstGeom prst="rect">
            <a:avLst/>
          </a:prstGeom>
          <a:solidFill>
            <a:srgbClr val="414842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Rectangle 25"/>
          <p:cNvSpPr/>
          <p:nvPr/>
        </p:nvSpPr>
        <p:spPr>
          <a:xfrm>
            <a:off x="8878680" y="2468880"/>
            <a:ext cx="109440" cy="10944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ectangle 26"/>
          <p:cNvSpPr/>
          <p:nvPr/>
        </p:nvSpPr>
        <p:spPr>
          <a:xfrm>
            <a:off x="9445680" y="237744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Rectangle 27"/>
          <p:cNvSpPr/>
          <p:nvPr/>
        </p:nvSpPr>
        <p:spPr>
          <a:xfrm>
            <a:off x="10104120" y="237744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Rectangle 28"/>
          <p:cNvSpPr/>
          <p:nvPr/>
        </p:nvSpPr>
        <p:spPr>
          <a:xfrm>
            <a:off x="10762560" y="2377440"/>
            <a:ext cx="585000" cy="837720"/>
          </a:xfrm>
          <a:prstGeom prst="rect">
            <a:avLst/>
          </a:prstGeom>
          <a:solidFill>
            <a:srgbClr val="414842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Rectangle 29"/>
          <p:cNvSpPr/>
          <p:nvPr/>
        </p:nvSpPr>
        <p:spPr>
          <a:xfrm>
            <a:off x="10854000" y="2468880"/>
            <a:ext cx="109440" cy="10944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Rectangle 30"/>
          <p:cNvSpPr/>
          <p:nvPr/>
        </p:nvSpPr>
        <p:spPr>
          <a:xfrm>
            <a:off x="8129160" y="330696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ectangle 31"/>
          <p:cNvSpPr/>
          <p:nvPr/>
        </p:nvSpPr>
        <p:spPr>
          <a:xfrm>
            <a:off x="8787240" y="330696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Rectangle 32"/>
          <p:cNvSpPr/>
          <p:nvPr/>
        </p:nvSpPr>
        <p:spPr>
          <a:xfrm>
            <a:off x="9445680" y="330696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Rectangle 33"/>
          <p:cNvSpPr/>
          <p:nvPr/>
        </p:nvSpPr>
        <p:spPr>
          <a:xfrm>
            <a:off x="10104120" y="3306960"/>
            <a:ext cx="585000" cy="837720"/>
          </a:xfrm>
          <a:prstGeom prst="rect">
            <a:avLst/>
          </a:prstGeom>
          <a:solidFill>
            <a:srgbClr val="414842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Rectangle 34"/>
          <p:cNvSpPr/>
          <p:nvPr/>
        </p:nvSpPr>
        <p:spPr>
          <a:xfrm>
            <a:off x="10195560" y="3398400"/>
            <a:ext cx="109440" cy="10944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Rectangle 35"/>
          <p:cNvSpPr/>
          <p:nvPr/>
        </p:nvSpPr>
        <p:spPr>
          <a:xfrm>
            <a:off x="10762560" y="330696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Rectangle 36"/>
          <p:cNvSpPr/>
          <p:nvPr/>
        </p:nvSpPr>
        <p:spPr>
          <a:xfrm>
            <a:off x="8129160" y="4236840"/>
            <a:ext cx="585000" cy="837720"/>
          </a:xfrm>
          <a:prstGeom prst="rect">
            <a:avLst/>
          </a:prstGeom>
          <a:solidFill>
            <a:srgbClr val="414842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Rectangle 37"/>
          <p:cNvSpPr/>
          <p:nvPr/>
        </p:nvSpPr>
        <p:spPr>
          <a:xfrm>
            <a:off x="8220600" y="4328280"/>
            <a:ext cx="109440" cy="10944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Rectangle 38"/>
          <p:cNvSpPr/>
          <p:nvPr/>
        </p:nvSpPr>
        <p:spPr>
          <a:xfrm>
            <a:off x="8787240" y="423684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Rectangle 39"/>
          <p:cNvSpPr/>
          <p:nvPr/>
        </p:nvSpPr>
        <p:spPr>
          <a:xfrm>
            <a:off x="9445680" y="4236840"/>
            <a:ext cx="585000" cy="837720"/>
          </a:xfrm>
          <a:prstGeom prst="rect">
            <a:avLst/>
          </a:prstGeom>
          <a:solidFill>
            <a:srgbClr val="414842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Rectangle 40"/>
          <p:cNvSpPr/>
          <p:nvPr/>
        </p:nvSpPr>
        <p:spPr>
          <a:xfrm>
            <a:off x="9537120" y="4328280"/>
            <a:ext cx="109440" cy="10944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ectangle 41"/>
          <p:cNvSpPr/>
          <p:nvPr/>
        </p:nvSpPr>
        <p:spPr>
          <a:xfrm>
            <a:off x="10104120" y="4236840"/>
            <a:ext cx="585000" cy="83772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Rectangle 42"/>
          <p:cNvSpPr/>
          <p:nvPr/>
        </p:nvSpPr>
        <p:spPr>
          <a:xfrm>
            <a:off x="10762560" y="4236840"/>
            <a:ext cx="585000" cy="837720"/>
          </a:xfrm>
          <a:prstGeom prst="rect">
            <a:avLst/>
          </a:prstGeom>
          <a:solidFill>
            <a:srgbClr val="414842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Rectangle 43"/>
          <p:cNvSpPr/>
          <p:nvPr/>
        </p:nvSpPr>
        <p:spPr>
          <a:xfrm>
            <a:off x="10854000" y="4328280"/>
            <a:ext cx="109440" cy="10944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44"/>
          <p:cNvSpPr/>
          <p:nvPr/>
        </p:nvSpPr>
        <p:spPr>
          <a:xfrm>
            <a:off x="8092440" y="484632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143" strike="noStrike">
                <a:solidFill>
                  <a:srgbClr val="6d8d9f"/>
                </a:solidFill>
                <a:latin typeface="Neue Montreal"/>
              </a:rPr>
              <a:t>06 POSTS QUEUED · NEXT WEEK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15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III / PUBLISH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Instagram first. Built to expand.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Today: Instagram. Tomorrow: every channel your team needs.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Instagram is the launch target. The scheduler is platform-agnostic underneath.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TikTok, LinkedIn, and X integrations live on the roadmap.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Same composer, same approvals — more channels, no extra workflow.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CHANNELS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Rectangle 18"/>
          <p:cNvSpPr/>
          <p:nvPr/>
        </p:nvSpPr>
        <p:spPr>
          <a:xfrm>
            <a:off x="8092440" y="2103120"/>
            <a:ext cx="3291480" cy="6764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8321040" y="22676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137" strike="noStrike">
                <a:solidFill>
                  <a:srgbClr val="eaeef1"/>
                </a:solidFill>
                <a:latin typeface="Neue Montreal"/>
              </a:rPr>
              <a:t>INSTAGRAM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Rectangle 20"/>
          <p:cNvSpPr/>
          <p:nvPr/>
        </p:nvSpPr>
        <p:spPr>
          <a:xfrm>
            <a:off x="10424160" y="2304360"/>
            <a:ext cx="776880" cy="292320"/>
          </a:xfrm>
          <a:prstGeom prst="rect">
            <a:avLst/>
          </a:prstGeom>
          <a:solidFill>
            <a:srgbClr val="0b2230"/>
          </a:solidFill>
          <a:ln>
            <a:solidFill>
              <a:srgbClr val="f4b96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10424160" y="230436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143" strike="noStrike">
                <a:solidFill>
                  <a:srgbClr val="f4b964"/>
                </a:solidFill>
                <a:latin typeface="Neue Montreal"/>
              </a:rPr>
              <a:t>LIVE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Rectangle 22"/>
          <p:cNvSpPr/>
          <p:nvPr/>
        </p:nvSpPr>
        <p:spPr>
          <a:xfrm>
            <a:off x="8092440" y="2926080"/>
            <a:ext cx="3291480" cy="6764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8321040" y="309060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137" strike="noStrike">
                <a:solidFill>
                  <a:srgbClr val="eaeef1"/>
                </a:solidFill>
                <a:latin typeface="Neue Montreal"/>
              </a:rPr>
              <a:t>TIKTOK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Rectangle 24"/>
          <p:cNvSpPr/>
          <p:nvPr/>
        </p:nvSpPr>
        <p:spPr>
          <a:xfrm>
            <a:off x="10424160" y="3127320"/>
            <a:ext cx="776880" cy="292320"/>
          </a:xfrm>
          <a:prstGeom prst="rect">
            <a:avLst/>
          </a:prstGeom>
          <a:solidFill>
            <a:srgbClr val="0b2230"/>
          </a:solidFill>
          <a:ln>
            <a:solidFill>
              <a:srgbClr val="6d8d9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25"/>
          <p:cNvSpPr/>
          <p:nvPr/>
        </p:nvSpPr>
        <p:spPr>
          <a:xfrm>
            <a:off x="10424160" y="312732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143" strike="noStrike">
                <a:solidFill>
                  <a:srgbClr val="6d8d9f"/>
                </a:solidFill>
                <a:latin typeface="Neue Montreal"/>
              </a:rPr>
              <a:t>ROADMAP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Rectangle 26"/>
          <p:cNvSpPr/>
          <p:nvPr/>
        </p:nvSpPr>
        <p:spPr>
          <a:xfrm>
            <a:off x="8092440" y="3749040"/>
            <a:ext cx="3291480" cy="6764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27"/>
          <p:cNvSpPr/>
          <p:nvPr/>
        </p:nvSpPr>
        <p:spPr>
          <a:xfrm>
            <a:off x="8321040" y="39135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137" strike="noStrike">
                <a:solidFill>
                  <a:srgbClr val="eaeef1"/>
                </a:solidFill>
                <a:latin typeface="Neue Montreal"/>
              </a:rPr>
              <a:t>LINKEDIN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Rectangle 28"/>
          <p:cNvSpPr/>
          <p:nvPr/>
        </p:nvSpPr>
        <p:spPr>
          <a:xfrm>
            <a:off x="10424160" y="3950280"/>
            <a:ext cx="776880" cy="292320"/>
          </a:xfrm>
          <a:prstGeom prst="rect">
            <a:avLst/>
          </a:prstGeom>
          <a:solidFill>
            <a:srgbClr val="0b2230"/>
          </a:solidFill>
          <a:ln>
            <a:solidFill>
              <a:srgbClr val="6d8d9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TextBox 29"/>
          <p:cNvSpPr/>
          <p:nvPr/>
        </p:nvSpPr>
        <p:spPr>
          <a:xfrm>
            <a:off x="10424160" y="395028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143" strike="noStrike">
                <a:solidFill>
                  <a:srgbClr val="6d8d9f"/>
                </a:solidFill>
                <a:latin typeface="Neue Montreal"/>
              </a:rPr>
              <a:t>ROADMAP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Rectangle 30"/>
          <p:cNvSpPr/>
          <p:nvPr/>
        </p:nvSpPr>
        <p:spPr>
          <a:xfrm>
            <a:off x="8092440" y="4572000"/>
            <a:ext cx="3291480" cy="67644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TextBox 31"/>
          <p:cNvSpPr/>
          <p:nvPr/>
        </p:nvSpPr>
        <p:spPr>
          <a:xfrm>
            <a:off x="8321040" y="473652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400" spc="137" strike="noStrike">
                <a:solidFill>
                  <a:srgbClr val="eaeef1"/>
                </a:solidFill>
                <a:latin typeface="Neue Montreal"/>
              </a:rPr>
              <a:t>X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Rectangle 32"/>
          <p:cNvSpPr/>
          <p:nvPr/>
        </p:nvSpPr>
        <p:spPr>
          <a:xfrm>
            <a:off x="10424160" y="4773240"/>
            <a:ext cx="776880" cy="292320"/>
          </a:xfrm>
          <a:prstGeom prst="rect">
            <a:avLst/>
          </a:prstGeom>
          <a:solidFill>
            <a:srgbClr val="0b2230"/>
          </a:solidFill>
          <a:ln>
            <a:solidFill>
              <a:srgbClr val="6d8d9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TextBox 33"/>
          <p:cNvSpPr/>
          <p:nvPr/>
        </p:nvSpPr>
        <p:spPr>
          <a:xfrm>
            <a:off x="10424160" y="4773240"/>
            <a:ext cx="77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800" spc="143" strike="noStrike">
                <a:solidFill>
                  <a:srgbClr val="6d8d9f"/>
                </a:solidFill>
                <a:latin typeface="Neue Montreal"/>
              </a:rPr>
              <a:t>ROADMAP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16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ACT III / LEARN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Performance, per brand.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Engagement, reach, and growth — sliced by brand, post type, and campaign.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See what's working before the week ends, not after the quarter.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Compare brands, periods, and post formats in one view.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Export raw metrics to whatever BI stack you already run.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Rectangle 14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Rectangle 15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Rectangle 16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TextBox 17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PILOT RESULTS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Box 18"/>
          <p:cNvSpPr/>
          <p:nvPr/>
        </p:nvSpPr>
        <p:spPr>
          <a:xfrm>
            <a:off x="8092440" y="210312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7800" spc="-1" strike="noStrike">
                <a:solidFill>
                  <a:srgbClr val="f4b964"/>
                </a:solidFill>
                <a:latin typeface="JetBrains Mono"/>
              </a:rPr>
              <a:t>+34%</a:t>
            </a:r>
            <a:endParaRPr b="0" lang="en-IN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Box 19"/>
          <p:cNvSpPr/>
          <p:nvPr/>
        </p:nvSpPr>
        <p:spPr>
          <a:xfrm>
            <a:off x="8092440" y="34290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4dce2"/>
                </a:solidFill>
                <a:latin typeface="General Sans"/>
              </a:rPr>
              <a:t>median engagement lift across pilot brands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Rectangle 20"/>
          <p:cNvSpPr/>
          <p:nvPr/>
        </p:nvSpPr>
        <p:spPr>
          <a:xfrm>
            <a:off x="8092440" y="3931920"/>
            <a:ext cx="1096920" cy="316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3" name="TextBox 21"/>
          <p:cNvSpPr/>
          <p:nvPr/>
        </p:nvSpPr>
        <p:spPr>
          <a:xfrm>
            <a:off x="8092440" y="4114800"/>
            <a:ext cx="197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FOLLOWER GROWTH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Box 22"/>
          <p:cNvSpPr/>
          <p:nvPr/>
        </p:nvSpPr>
        <p:spPr>
          <a:xfrm>
            <a:off x="9902880" y="4114800"/>
            <a:ext cx="1481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eef1"/>
                </a:solidFill>
                <a:latin typeface="JetBrains Mono"/>
              </a:rPr>
              <a:t>+ 12.4 %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Box 23"/>
          <p:cNvSpPr/>
          <p:nvPr/>
        </p:nvSpPr>
        <p:spPr>
          <a:xfrm>
            <a:off x="8092440" y="4498920"/>
            <a:ext cx="197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REACH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24"/>
          <p:cNvSpPr/>
          <p:nvPr/>
        </p:nvSpPr>
        <p:spPr>
          <a:xfrm>
            <a:off x="9902880" y="4498920"/>
            <a:ext cx="1481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eef1"/>
                </a:solidFill>
                <a:latin typeface="JetBrains Mono"/>
              </a:rPr>
              <a:t>+ 41.0 %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25"/>
          <p:cNvSpPr/>
          <p:nvPr/>
        </p:nvSpPr>
        <p:spPr>
          <a:xfrm>
            <a:off x="8092440" y="4883040"/>
            <a:ext cx="197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SAVES PER POST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26"/>
          <p:cNvSpPr/>
          <p:nvPr/>
        </p:nvSpPr>
        <p:spPr>
          <a:xfrm>
            <a:off x="9902880" y="4883040"/>
            <a:ext cx="1481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eef1"/>
                </a:solidFill>
                <a:latin typeface="JetBrains Mono"/>
              </a:rPr>
              <a:t>+ 2.3 ×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17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03 / ENTERPRISE READINESS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6"/>
          <p:cNvSpPr/>
          <p:nvPr/>
        </p:nvSpPr>
        <p:spPr>
          <a:xfrm>
            <a:off x="777240" y="12344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Built for teams that move serious volume.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Box 7"/>
          <p:cNvSpPr/>
          <p:nvPr/>
        </p:nvSpPr>
        <p:spPr>
          <a:xfrm>
            <a:off x="548640" y="24231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4dce2"/>
                </a:solidFill>
                <a:latin typeface="General Sans"/>
              </a:rPr>
              <a:t>Multi-brand isolation, role-based access, and audit trails out of the box.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Rectangle 8"/>
          <p:cNvSpPr/>
          <p:nvPr/>
        </p:nvSpPr>
        <p:spPr>
          <a:xfrm>
            <a:off x="548640" y="3364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7" name="TextBox 9"/>
          <p:cNvSpPr/>
          <p:nvPr/>
        </p:nvSpPr>
        <p:spPr>
          <a:xfrm>
            <a:off x="804600" y="3246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Strict per-brand workspace isolation. Nothing leaks across brands.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Rectangle 10"/>
          <p:cNvSpPr/>
          <p:nvPr/>
        </p:nvSpPr>
        <p:spPr>
          <a:xfrm>
            <a:off x="548640" y="3931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TextBox 11"/>
          <p:cNvSpPr/>
          <p:nvPr/>
        </p:nvSpPr>
        <p:spPr>
          <a:xfrm>
            <a:off x="804600" y="3813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Role-based permissions tied to SSO-grade auth (Clerk).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Rectangle 12"/>
          <p:cNvSpPr/>
          <p:nvPr/>
        </p:nvSpPr>
        <p:spPr>
          <a:xfrm>
            <a:off x="548640" y="4498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13"/>
          <p:cNvSpPr/>
          <p:nvPr/>
        </p:nvSpPr>
        <p:spPr>
          <a:xfrm>
            <a:off x="804600" y="438012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Audit trails on creative, approvals, and publishing.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Rectangle 14"/>
          <p:cNvSpPr/>
          <p:nvPr/>
        </p:nvSpPr>
        <p:spPr>
          <a:xfrm>
            <a:off x="548640" y="506592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TextBox 15"/>
          <p:cNvSpPr/>
          <p:nvPr/>
        </p:nvSpPr>
        <p:spPr>
          <a:xfrm>
            <a:off x="804600" y="494676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Per-seat or per-brand pricing. Let's tailor it.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Rectangle 16"/>
          <p:cNvSpPr/>
          <p:nvPr/>
        </p:nvSpPr>
        <p:spPr>
          <a:xfrm>
            <a:off x="7854840" y="1298520"/>
            <a:ext cx="3840120" cy="461736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Rectangle 17"/>
          <p:cNvSpPr/>
          <p:nvPr/>
        </p:nvSpPr>
        <p:spPr>
          <a:xfrm>
            <a:off x="7831800" y="1257480"/>
            <a:ext cx="3840120" cy="461736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Rectangle 18"/>
          <p:cNvSpPr/>
          <p:nvPr/>
        </p:nvSpPr>
        <p:spPr>
          <a:xfrm>
            <a:off x="7818120" y="1234440"/>
            <a:ext cx="3840120" cy="461736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TextBox 19"/>
          <p:cNvSpPr/>
          <p:nvPr/>
        </p:nvSpPr>
        <p:spPr>
          <a:xfrm>
            <a:off x="8092440" y="1554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34" strike="noStrike">
                <a:solidFill>
                  <a:srgbClr val="6d8d9f"/>
                </a:solidFill>
                <a:latin typeface="Neue Montreal"/>
              </a:rPr>
              <a:t>ENTERPRISE CONTROLS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Rectangle 20"/>
          <p:cNvSpPr/>
          <p:nvPr/>
        </p:nvSpPr>
        <p:spPr>
          <a:xfrm>
            <a:off x="8092440" y="2057400"/>
            <a:ext cx="1554120" cy="162288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Rectangle 21"/>
          <p:cNvSpPr/>
          <p:nvPr/>
        </p:nvSpPr>
        <p:spPr>
          <a:xfrm>
            <a:off x="8092440" y="2057400"/>
            <a:ext cx="54360" cy="16228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TextBox 22"/>
          <p:cNvSpPr/>
          <p:nvPr/>
        </p:nvSpPr>
        <p:spPr>
          <a:xfrm>
            <a:off x="8275320" y="22402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28" strike="noStrike">
                <a:solidFill>
                  <a:srgbClr val="eaeef1"/>
                </a:solidFill>
                <a:latin typeface="Neue Montreal"/>
              </a:rPr>
              <a:t>ISOLATED WORKSPACES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23"/>
          <p:cNvSpPr/>
          <p:nvPr/>
        </p:nvSpPr>
        <p:spPr>
          <a:xfrm>
            <a:off x="8275320" y="256032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d8d9f"/>
                </a:solidFill>
                <a:latin typeface="General Sans"/>
              </a:rPr>
              <a:t>Per-brand boundaries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Rectangle 24"/>
          <p:cNvSpPr/>
          <p:nvPr/>
        </p:nvSpPr>
        <p:spPr>
          <a:xfrm>
            <a:off x="9829800" y="2057400"/>
            <a:ext cx="1554120" cy="162288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Rectangle 25"/>
          <p:cNvSpPr/>
          <p:nvPr/>
        </p:nvSpPr>
        <p:spPr>
          <a:xfrm>
            <a:off x="9829800" y="2057400"/>
            <a:ext cx="54360" cy="16228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TextBox 26"/>
          <p:cNvSpPr/>
          <p:nvPr/>
        </p:nvSpPr>
        <p:spPr>
          <a:xfrm>
            <a:off x="10012680" y="22402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28" strike="noStrike">
                <a:solidFill>
                  <a:srgbClr val="eaeef1"/>
                </a:solidFill>
                <a:latin typeface="Neue Montreal"/>
              </a:rPr>
              <a:t>ROLE-BASED ACCESS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27"/>
          <p:cNvSpPr/>
          <p:nvPr/>
        </p:nvSpPr>
        <p:spPr>
          <a:xfrm>
            <a:off x="10012680" y="256032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d8d9f"/>
                </a:solidFill>
                <a:latin typeface="General Sans"/>
              </a:rPr>
              <a:t>Granular permissions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Rectangle 28"/>
          <p:cNvSpPr/>
          <p:nvPr/>
        </p:nvSpPr>
        <p:spPr>
          <a:xfrm>
            <a:off x="8092440" y="3863160"/>
            <a:ext cx="1554120" cy="162288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Rectangle 29"/>
          <p:cNvSpPr/>
          <p:nvPr/>
        </p:nvSpPr>
        <p:spPr>
          <a:xfrm>
            <a:off x="8092440" y="3863160"/>
            <a:ext cx="54360" cy="16228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8" name="TextBox 30"/>
          <p:cNvSpPr/>
          <p:nvPr/>
        </p:nvSpPr>
        <p:spPr>
          <a:xfrm>
            <a:off x="8275320" y="404640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28" strike="noStrike">
                <a:solidFill>
                  <a:srgbClr val="eaeef1"/>
                </a:solidFill>
                <a:latin typeface="Neue Montreal"/>
              </a:rPr>
              <a:t>SECURE AUTH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Box 31"/>
          <p:cNvSpPr/>
          <p:nvPr/>
        </p:nvSpPr>
        <p:spPr>
          <a:xfrm>
            <a:off x="8275320" y="43660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d8d9f"/>
                </a:solidFill>
                <a:latin typeface="General Sans"/>
              </a:rPr>
              <a:t>SSO-grade via Clerk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Rectangle 32"/>
          <p:cNvSpPr/>
          <p:nvPr/>
        </p:nvSpPr>
        <p:spPr>
          <a:xfrm>
            <a:off x="9829800" y="3863160"/>
            <a:ext cx="1554120" cy="1622880"/>
          </a:xfrm>
          <a:prstGeom prst="rect">
            <a:avLst/>
          </a:prstGeom>
          <a:solidFill>
            <a:srgbClr val="0b2230"/>
          </a:solidFill>
          <a:ln>
            <a:solidFill>
              <a:srgbClr val="2a393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Rectangle 33"/>
          <p:cNvSpPr/>
          <p:nvPr/>
        </p:nvSpPr>
        <p:spPr>
          <a:xfrm>
            <a:off x="9829800" y="3863160"/>
            <a:ext cx="54360" cy="16228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2" name="TextBox 34"/>
          <p:cNvSpPr/>
          <p:nvPr/>
        </p:nvSpPr>
        <p:spPr>
          <a:xfrm>
            <a:off x="10012680" y="404640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128" strike="noStrike">
                <a:solidFill>
                  <a:srgbClr val="eaeef1"/>
                </a:solidFill>
                <a:latin typeface="Neue Montreal"/>
              </a:rPr>
              <a:t>AUDIT TRAIL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35"/>
          <p:cNvSpPr/>
          <p:nvPr/>
        </p:nvSpPr>
        <p:spPr>
          <a:xfrm>
            <a:off x="10012680" y="436608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d8d9f"/>
                </a:solidFill>
                <a:latin typeface="General Sans"/>
              </a:rPr>
              <a:t>Every action logged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18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04 / ONBOARDING PLAN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9" name="TextBox 6"/>
          <p:cNvSpPr/>
          <p:nvPr/>
        </p:nvSpPr>
        <p:spPr>
          <a:xfrm>
            <a:off x="777240" y="12344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Your first 30 days with PixelPrism.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Box 7"/>
          <p:cNvSpPr/>
          <p:nvPr/>
        </p:nvSpPr>
        <p:spPr>
          <a:xfrm>
            <a:off x="548640" y="24231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d4dce2"/>
                </a:solidFill>
                <a:latin typeface="General Sans"/>
              </a:rPr>
              <a:t>Four weeks from kickoff to compounding output.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Rectangle 8"/>
          <p:cNvSpPr/>
          <p:nvPr/>
        </p:nvSpPr>
        <p:spPr>
          <a:xfrm>
            <a:off x="777240" y="3886200"/>
            <a:ext cx="10636920" cy="22680"/>
          </a:xfrm>
          <a:prstGeom prst="rect">
            <a:avLst/>
          </a:prstGeom>
          <a:solidFill>
            <a:srgbClr val="3b3d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Rectangle 9"/>
          <p:cNvSpPr/>
          <p:nvPr/>
        </p:nvSpPr>
        <p:spPr>
          <a:xfrm>
            <a:off x="1796040" y="3840480"/>
            <a:ext cx="127800" cy="1278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Rectangle 10"/>
          <p:cNvSpPr/>
          <p:nvPr/>
        </p:nvSpPr>
        <p:spPr>
          <a:xfrm>
            <a:off x="585360" y="4178880"/>
            <a:ext cx="2622240" cy="191988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4" name="Rectangle 11"/>
          <p:cNvSpPr/>
          <p:nvPr/>
        </p:nvSpPr>
        <p:spPr>
          <a:xfrm>
            <a:off x="562320" y="4137840"/>
            <a:ext cx="2622240" cy="191988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Rectangle 12"/>
          <p:cNvSpPr/>
          <p:nvPr/>
        </p:nvSpPr>
        <p:spPr>
          <a:xfrm>
            <a:off x="548640" y="4114800"/>
            <a:ext cx="2622240" cy="191988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TextBox 13"/>
          <p:cNvSpPr/>
          <p:nvPr/>
        </p:nvSpPr>
        <p:spPr>
          <a:xfrm>
            <a:off x="548640" y="3383280"/>
            <a:ext cx="262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177" strike="noStrike">
                <a:solidFill>
                  <a:srgbClr val="6d8d9f"/>
                </a:solidFill>
                <a:latin typeface="JetBrains Mono"/>
              </a:rPr>
              <a:t>WEEK 01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14"/>
          <p:cNvSpPr/>
          <p:nvPr/>
        </p:nvSpPr>
        <p:spPr>
          <a:xfrm>
            <a:off x="731520" y="4297680"/>
            <a:ext cx="2256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109" strike="noStrike">
                <a:solidFill>
                  <a:srgbClr val="f4b964"/>
                </a:solidFill>
                <a:latin typeface="Neue Montreal"/>
              </a:rPr>
              <a:t>CONFIGURE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Box 15"/>
          <p:cNvSpPr/>
          <p:nvPr/>
        </p:nvSpPr>
        <p:spPr>
          <a:xfrm>
            <a:off x="731520" y="4983480"/>
            <a:ext cx="2256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50000"/>
              </a:lnSpc>
            </a:pPr>
            <a:r>
              <a:rPr b="0" lang="en-US" sz="1100" spc="-1" strike="noStrike">
                <a:solidFill>
                  <a:srgbClr val="d4dce2"/>
                </a:solidFill>
                <a:latin typeface="General Sans"/>
              </a:rPr>
              <a:t>Spin up workspaces. Upload logos, products, brand voice. Assign roles.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Rectangle 16"/>
          <p:cNvSpPr/>
          <p:nvPr/>
        </p:nvSpPr>
        <p:spPr>
          <a:xfrm>
            <a:off x="4619880" y="3840480"/>
            <a:ext cx="127800" cy="1278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Rectangle 17"/>
          <p:cNvSpPr/>
          <p:nvPr/>
        </p:nvSpPr>
        <p:spPr>
          <a:xfrm>
            <a:off x="3409200" y="4178880"/>
            <a:ext cx="2622240" cy="191988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Rectangle 18"/>
          <p:cNvSpPr/>
          <p:nvPr/>
        </p:nvSpPr>
        <p:spPr>
          <a:xfrm>
            <a:off x="3386160" y="4137840"/>
            <a:ext cx="2622240" cy="191988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Rectangle 19"/>
          <p:cNvSpPr/>
          <p:nvPr/>
        </p:nvSpPr>
        <p:spPr>
          <a:xfrm>
            <a:off x="3372480" y="4114800"/>
            <a:ext cx="2622240" cy="191988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TextBox 20"/>
          <p:cNvSpPr/>
          <p:nvPr/>
        </p:nvSpPr>
        <p:spPr>
          <a:xfrm>
            <a:off x="3372480" y="3383280"/>
            <a:ext cx="262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177" strike="noStrike">
                <a:solidFill>
                  <a:srgbClr val="6d8d9f"/>
                </a:solidFill>
                <a:latin typeface="JetBrains Mono"/>
              </a:rPr>
              <a:t>WEEK 02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Box 21"/>
          <p:cNvSpPr/>
          <p:nvPr/>
        </p:nvSpPr>
        <p:spPr>
          <a:xfrm>
            <a:off x="3555360" y="4297680"/>
            <a:ext cx="2256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109" strike="noStrike">
                <a:solidFill>
                  <a:srgbClr val="f4b964"/>
                </a:solidFill>
                <a:latin typeface="Neue Montreal"/>
              </a:rPr>
              <a:t>CREATE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Box 22"/>
          <p:cNvSpPr/>
          <p:nvPr/>
        </p:nvSpPr>
        <p:spPr>
          <a:xfrm>
            <a:off x="3555360" y="4983480"/>
            <a:ext cx="2256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50000"/>
              </a:lnSpc>
            </a:pPr>
            <a:r>
              <a:rPr b="0" lang="en-US" sz="1100" spc="-1" strike="noStrike">
                <a:solidFill>
                  <a:srgbClr val="d4dce2"/>
                </a:solidFill>
                <a:latin typeface="General Sans"/>
              </a:rPr>
              <a:t>First AI-generated campaigns. Train tone of voice. Approve early drafts.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Rectangle 23"/>
          <p:cNvSpPr/>
          <p:nvPr/>
        </p:nvSpPr>
        <p:spPr>
          <a:xfrm>
            <a:off x="7443720" y="3840480"/>
            <a:ext cx="127800" cy="1278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Rectangle 24"/>
          <p:cNvSpPr/>
          <p:nvPr/>
        </p:nvSpPr>
        <p:spPr>
          <a:xfrm>
            <a:off x="6233040" y="4178880"/>
            <a:ext cx="2622240" cy="191988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8" name="Rectangle 25"/>
          <p:cNvSpPr/>
          <p:nvPr/>
        </p:nvSpPr>
        <p:spPr>
          <a:xfrm>
            <a:off x="6210000" y="4137840"/>
            <a:ext cx="2622240" cy="191988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Rectangle 26"/>
          <p:cNvSpPr/>
          <p:nvPr/>
        </p:nvSpPr>
        <p:spPr>
          <a:xfrm>
            <a:off x="6196320" y="4114800"/>
            <a:ext cx="2622240" cy="191988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TextBox 27"/>
          <p:cNvSpPr/>
          <p:nvPr/>
        </p:nvSpPr>
        <p:spPr>
          <a:xfrm>
            <a:off x="6196320" y="3383280"/>
            <a:ext cx="262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177" strike="noStrike">
                <a:solidFill>
                  <a:srgbClr val="6d8d9f"/>
                </a:solidFill>
                <a:latin typeface="JetBrains Mono"/>
              </a:rPr>
              <a:t>WEEK 03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Box 28"/>
          <p:cNvSpPr/>
          <p:nvPr/>
        </p:nvSpPr>
        <p:spPr>
          <a:xfrm>
            <a:off x="6379200" y="4297680"/>
            <a:ext cx="2256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109" strike="noStrike">
                <a:solidFill>
                  <a:srgbClr val="f4b964"/>
                </a:solidFill>
                <a:latin typeface="Neue Montreal"/>
              </a:rPr>
              <a:t>CODIFY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Box 29"/>
          <p:cNvSpPr/>
          <p:nvPr/>
        </p:nvSpPr>
        <p:spPr>
          <a:xfrm>
            <a:off x="6379200" y="4983480"/>
            <a:ext cx="2256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50000"/>
              </a:lnSpc>
            </a:pPr>
            <a:r>
              <a:rPr b="0" lang="en-US" sz="1100" spc="-1" strike="noStrike">
                <a:solidFill>
                  <a:srgbClr val="d4dce2"/>
                </a:solidFill>
                <a:latin typeface="General Sans"/>
              </a:rPr>
              <a:t>Lock in templates and approval flow. Document your team's playbook.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Rectangle 30"/>
          <p:cNvSpPr/>
          <p:nvPr/>
        </p:nvSpPr>
        <p:spPr>
          <a:xfrm>
            <a:off x="10267560" y="3840480"/>
            <a:ext cx="127800" cy="1278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Rectangle 31"/>
          <p:cNvSpPr/>
          <p:nvPr/>
        </p:nvSpPr>
        <p:spPr>
          <a:xfrm>
            <a:off x="9056880" y="4178880"/>
            <a:ext cx="2622240" cy="191988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5" name="Rectangle 32"/>
          <p:cNvSpPr/>
          <p:nvPr/>
        </p:nvSpPr>
        <p:spPr>
          <a:xfrm>
            <a:off x="9034200" y="4137840"/>
            <a:ext cx="2622240" cy="191988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6" name="Rectangle 33"/>
          <p:cNvSpPr/>
          <p:nvPr/>
        </p:nvSpPr>
        <p:spPr>
          <a:xfrm>
            <a:off x="9020160" y="4114800"/>
            <a:ext cx="2622240" cy="191988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7" name="TextBox 34"/>
          <p:cNvSpPr/>
          <p:nvPr/>
        </p:nvSpPr>
        <p:spPr>
          <a:xfrm>
            <a:off x="9020160" y="3383280"/>
            <a:ext cx="262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177" strike="noStrike">
                <a:solidFill>
                  <a:srgbClr val="6d8d9f"/>
                </a:solidFill>
                <a:latin typeface="JetBrains Mono"/>
              </a:rPr>
              <a:t>WEEK 04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Box 35"/>
          <p:cNvSpPr/>
          <p:nvPr/>
        </p:nvSpPr>
        <p:spPr>
          <a:xfrm>
            <a:off x="9203040" y="4297680"/>
            <a:ext cx="2256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200" spc="109" strike="noStrike">
                <a:solidFill>
                  <a:srgbClr val="f4b964"/>
                </a:solidFill>
                <a:latin typeface="Neue Montreal"/>
              </a:rPr>
              <a:t>COMPOUND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Box 36"/>
          <p:cNvSpPr/>
          <p:nvPr/>
        </p:nvSpPr>
        <p:spPr>
          <a:xfrm>
            <a:off x="9203040" y="4983480"/>
            <a:ext cx="2256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50000"/>
              </a:lnSpc>
            </a:pPr>
            <a:r>
              <a:rPr b="0" lang="en-US" sz="1100" spc="-1" strike="noStrike">
                <a:solidFill>
                  <a:srgbClr val="d4dce2"/>
                </a:solidFill>
                <a:latin typeface="General Sans"/>
              </a:rPr>
              <a:t>Full publishing cadence live. First analytics review. Plan next sprint.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19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3" name="TextBox 4"/>
          <p:cNvSpPr/>
          <p:nvPr/>
        </p:nvSpPr>
        <p:spPr>
          <a:xfrm>
            <a:off x="548640" y="640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05 / SUPPORT &amp; CONTACT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Rectangle 5"/>
          <p:cNvSpPr/>
          <p:nvPr/>
        </p:nvSpPr>
        <p:spPr>
          <a:xfrm>
            <a:off x="548640" y="1280160"/>
            <a:ext cx="40680" cy="59400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5" name="TextBox 6"/>
          <p:cNvSpPr/>
          <p:nvPr/>
        </p:nvSpPr>
        <p:spPr>
          <a:xfrm>
            <a:off x="777240" y="123444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3400" spc="-35" strike="noStrike">
                <a:solidFill>
                  <a:srgbClr val="eaeef1"/>
                </a:solidFill>
                <a:latin typeface="Neue Montreal"/>
              </a:rPr>
              <a:t>We're on the call when you need us.</a:t>
            </a:r>
            <a:endParaRPr b="0" lang="en-IN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Box 7"/>
          <p:cNvSpPr/>
          <p:nvPr/>
        </p:nvSpPr>
        <p:spPr>
          <a:xfrm>
            <a:off x="548640" y="24231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d4dce2"/>
                </a:solidFill>
                <a:latin typeface="General Sans"/>
              </a:rPr>
              <a:t>Your kickoff is the start of an ongoing partnership.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Rectangle 8"/>
          <p:cNvSpPr/>
          <p:nvPr/>
        </p:nvSpPr>
        <p:spPr>
          <a:xfrm>
            <a:off x="548640" y="331920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8" name="TextBox 9"/>
          <p:cNvSpPr/>
          <p:nvPr/>
        </p:nvSpPr>
        <p:spPr>
          <a:xfrm>
            <a:off x="804600" y="320040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Dedicated kickoff lead for the first 30 days.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Rectangle 10"/>
          <p:cNvSpPr/>
          <p:nvPr/>
        </p:nvSpPr>
        <p:spPr>
          <a:xfrm>
            <a:off x="548640" y="388620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TextBox 11"/>
          <p:cNvSpPr/>
          <p:nvPr/>
        </p:nvSpPr>
        <p:spPr>
          <a:xfrm>
            <a:off x="804600" y="376740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Shared Slack channel with PixelPrism engineering.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ectangle 12"/>
          <p:cNvSpPr/>
          <p:nvPr/>
        </p:nvSpPr>
        <p:spPr>
          <a:xfrm>
            <a:off x="548640" y="445320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2" name="TextBox 13"/>
          <p:cNvSpPr/>
          <p:nvPr/>
        </p:nvSpPr>
        <p:spPr>
          <a:xfrm>
            <a:off x="804600" y="433440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Weekly office hours. Escalation acknowledged within 4 hours.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Rectangle 14"/>
          <p:cNvSpPr/>
          <p:nvPr/>
        </p:nvSpPr>
        <p:spPr>
          <a:xfrm>
            <a:off x="548640" y="5020200"/>
            <a:ext cx="82080" cy="820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4" name="TextBox 15"/>
          <p:cNvSpPr/>
          <p:nvPr/>
        </p:nvSpPr>
        <p:spPr>
          <a:xfrm>
            <a:off x="804600" y="4901040"/>
            <a:ext cx="64188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d4dce2"/>
                </a:solidFill>
                <a:latin typeface="General Sans"/>
              </a:rPr>
              <a:t>Roadmap input — your team helps prioritize what we build next.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Rectangle 16"/>
          <p:cNvSpPr/>
          <p:nvPr/>
        </p:nvSpPr>
        <p:spPr>
          <a:xfrm>
            <a:off x="7854840" y="2624400"/>
            <a:ext cx="3840120" cy="3291480"/>
          </a:xfrm>
          <a:prstGeom prst="rect">
            <a:avLst/>
          </a:prstGeom>
          <a:solidFill>
            <a:srgbClr val="0310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6" name="Rectangle 17"/>
          <p:cNvSpPr/>
          <p:nvPr/>
        </p:nvSpPr>
        <p:spPr>
          <a:xfrm>
            <a:off x="7831800" y="2583000"/>
            <a:ext cx="3840120" cy="3291480"/>
          </a:xfrm>
          <a:prstGeom prst="rect">
            <a:avLst/>
          </a:prstGeom>
          <a:solidFill>
            <a:srgbClr val="05141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7" name="Rectangle 18"/>
          <p:cNvSpPr/>
          <p:nvPr/>
        </p:nvSpPr>
        <p:spPr>
          <a:xfrm>
            <a:off x="7818120" y="2560320"/>
            <a:ext cx="3840120" cy="3291480"/>
          </a:xfrm>
          <a:prstGeom prst="rect">
            <a:avLst/>
          </a:prstGeom>
          <a:solidFill>
            <a:srgbClr val="0e2838"/>
          </a:solidFill>
          <a:ln>
            <a:solidFill>
              <a:srgbClr val="23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8" name="TextBox 19"/>
          <p:cNvSpPr/>
          <p:nvPr/>
        </p:nvSpPr>
        <p:spPr>
          <a:xfrm>
            <a:off x="8092440" y="27432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77" strike="noStrike">
                <a:solidFill>
                  <a:srgbClr val="f4b964"/>
                </a:solidFill>
                <a:latin typeface="Neue Montreal"/>
              </a:rPr>
              <a:t>REACH US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Box 20"/>
          <p:cNvSpPr/>
          <p:nvPr/>
        </p:nvSpPr>
        <p:spPr>
          <a:xfrm>
            <a:off x="8092440" y="32004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KICKOFF LEAD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Box 21"/>
          <p:cNvSpPr/>
          <p:nvPr/>
        </p:nvSpPr>
        <p:spPr>
          <a:xfrm>
            <a:off x="8092440" y="34747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35" strike="noStrike">
                <a:solidFill>
                  <a:srgbClr val="eaeef1"/>
                </a:solidFill>
                <a:latin typeface="JetBrains Mono"/>
              </a:rPr>
              <a:t>kickoff@pixelprism.app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Box 22"/>
          <p:cNvSpPr/>
          <p:nvPr/>
        </p:nvSpPr>
        <p:spPr>
          <a:xfrm>
            <a:off x="8092440" y="384048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ENGINEERING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Box 23"/>
          <p:cNvSpPr/>
          <p:nvPr/>
        </p:nvSpPr>
        <p:spPr>
          <a:xfrm>
            <a:off x="8092440" y="41148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35" strike="noStrike">
                <a:solidFill>
                  <a:srgbClr val="eaeef1"/>
                </a:solidFill>
                <a:latin typeface="JetBrains Mono"/>
              </a:rPr>
              <a:t>eng@pixelprism.app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Box 24"/>
          <p:cNvSpPr/>
          <p:nvPr/>
        </p:nvSpPr>
        <p:spPr>
          <a:xfrm>
            <a:off x="8092440" y="44805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DOCS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Box 25"/>
          <p:cNvSpPr/>
          <p:nvPr/>
        </p:nvSpPr>
        <p:spPr>
          <a:xfrm>
            <a:off x="8092440" y="47548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35" strike="noStrike">
                <a:solidFill>
                  <a:srgbClr val="eaeef1"/>
                </a:solidFill>
                <a:latin typeface="JetBrains Mono"/>
              </a:rPr>
              <a:t>pixelprism.app/docs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Box 26"/>
          <p:cNvSpPr/>
          <p:nvPr/>
        </p:nvSpPr>
        <p:spPr>
          <a:xfrm>
            <a:off x="8092440" y="51206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900" spc="160" strike="noStrike">
                <a:solidFill>
                  <a:srgbClr val="6d8d9f"/>
                </a:solidFill>
                <a:latin typeface="Neue Montreal"/>
              </a:rPr>
              <a:t>STATUS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Box 27"/>
          <p:cNvSpPr/>
          <p:nvPr/>
        </p:nvSpPr>
        <p:spPr>
          <a:xfrm>
            <a:off x="8092440" y="539496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200" spc="35" strike="noStrike">
                <a:solidFill>
                  <a:srgbClr val="eaeef1"/>
                </a:solidFill>
                <a:latin typeface="JetBrains Mono"/>
              </a:rPr>
              <a:t>pixelprism.app/status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Box 1"/>
          <p:cNvSpPr/>
          <p:nvPr/>
        </p:nvSpPr>
        <p:spPr>
          <a:xfrm>
            <a:off x="10545840" y="29268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900" spc="15" strike="noStrike">
                <a:solidFill>
                  <a:srgbClr val="6d8d9f"/>
                </a:solidFill>
                <a:latin typeface="JetBrains Mono"/>
              </a:rPr>
              <a:t>20 / 20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Box 2"/>
          <p:cNvSpPr/>
          <p:nvPr/>
        </p:nvSpPr>
        <p:spPr>
          <a:xfrm>
            <a:off x="548640" y="6446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50" spc="168" strike="noStrike">
                <a:solidFill>
                  <a:srgbClr val="6d8d9f"/>
                </a:solidFill>
                <a:latin typeface="Neue Montreal"/>
              </a:rPr>
              <a:t>PIXELPRISM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Rectangle 3"/>
          <p:cNvSpPr/>
          <p:nvPr/>
        </p:nvSpPr>
        <p:spPr>
          <a:xfrm>
            <a:off x="11588040" y="6528960"/>
            <a:ext cx="72720" cy="7272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0" name="TextBox 4"/>
          <p:cNvSpPr/>
          <p:nvPr/>
        </p:nvSpPr>
        <p:spPr>
          <a:xfrm>
            <a:off x="548640" y="502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17" strike="noStrike">
                <a:solidFill>
                  <a:srgbClr val="f4b964"/>
                </a:solidFill>
                <a:latin typeface="Neue Montreal"/>
              </a:rPr>
              <a:t>END / THANK YOU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Box 5"/>
          <p:cNvSpPr/>
          <p:nvPr/>
        </p:nvSpPr>
        <p:spPr>
          <a:xfrm>
            <a:off x="548640" y="1920240"/>
            <a:ext cx="10972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200" spc="-165" strike="noStrike">
                <a:solidFill>
                  <a:srgbClr val="d4dce2"/>
                </a:solidFill>
                <a:latin typeface="Neue Montreal"/>
              </a:rPr>
              <a:t>Let's build</a:t>
            </a:r>
            <a:endParaRPr b="0" lang="en-IN" sz="8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6"/>
          <p:cNvSpPr/>
          <p:nvPr/>
        </p:nvSpPr>
        <p:spPr>
          <a:xfrm>
            <a:off x="548640" y="3017520"/>
            <a:ext cx="10972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200" spc="-165" strike="noStrike">
                <a:solidFill>
                  <a:srgbClr val="eaeef1"/>
                </a:solidFill>
                <a:latin typeface="Neue Montreal"/>
              </a:rPr>
              <a:t>something</a:t>
            </a:r>
            <a:endParaRPr b="0" lang="en-IN" sz="8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Box 7"/>
          <p:cNvSpPr/>
          <p:nvPr/>
        </p:nvSpPr>
        <p:spPr>
          <a:xfrm>
            <a:off x="548640" y="4114800"/>
            <a:ext cx="10972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8200" spc="-165" strike="noStrike">
                <a:solidFill>
                  <a:srgbClr val="f4b964"/>
                </a:solidFill>
                <a:latin typeface="Neue Montreal"/>
              </a:rPr>
              <a:t>sharp.</a:t>
            </a:r>
            <a:endParaRPr b="0" lang="en-IN" sz="8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Rectangle 8"/>
          <p:cNvSpPr/>
          <p:nvPr/>
        </p:nvSpPr>
        <p:spPr>
          <a:xfrm>
            <a:off x="548640" y="5532120"/>
            <a:ext cx="2194200" cy="31680"/>
          </a:xfrm>
          <a:prstGeom prst="rect">
            <a:avLst/>
          </a:prstGeom>
          <a:solidFill>
            <a:srgbClr val="f4b9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5" name="TextBox 9"/>
          <p:cNvSpPr/>
          <p:nvPr/>
        </p:nvSpPr>
        <p:spPr>
          <a:xfrm>
            <a:off x="548640" y="57150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000" spc="199" strike="noStrike">
                <a:solidFill>
                  <a:srgbClr val="6d8d9f"/>
                </a:solidFill>
                <a:latin typeface="Neue Montreal"/>
              </a:rPr>
              <a:t>PIXELPRISM · ENTERPRISE KICKOFF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10"/>
          <p:cNvSpPr/>
          <p:nvPr/>
        </p:nvSpPr>
        <p:spPr>
          <a:xfrm>
            <a:off x="8534160" y="57150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000" spc="38" strike="noStrike">
                <a:solidFill>
                  <a:srgbClr val="6d8d9f"/>
                </a:solidFill>
                <a:latin typeface="JetBrains Mono"/>
              </a:rPr>
              <a:t>v1.0 · 2026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2026-05-19T15:41:14Z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